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63" r:id="rId3"/>
    <p:sldId id="264" r:id="rId4"/>
    <p:sldId id="265" r:id="rId5"/>
    <p:sldId id="266" r:id="rId6"/>
    <p:sldId id="275" r:id="rId7"/>
    <p:sldId id="268" r:id="rId8"/>
    <p:sldId id="267" r:id="rId9"/>
    <p:sldId id="269" r:id="rId10"/>
    <p:sldId id="293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ADE"/>
    <a:srgbClr val="71898B"/>
    <a:srgbClr val="FC3777"/>
    <a:srgbClr val="8A8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14" y="27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86797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7474671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28.09.2026</a:t>
            </a:fld>
            <a:endParaRPr lang="ru-RU"/>
          </a:p>
        </p:txBody>
      </p:sp>
      <p:sp>
        <p:nvSpPr>
          <p:cNvPr id="2066075993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53301530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740998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31431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FC5D0F-409D-B3A9-DD4B-874AEA69B10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187C11-FE2A-1A2D-FF1B-9FAD31E67CA2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50860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7492520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7603748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922520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024836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4493232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7BBA24-8446-270D-EF54-BA45BCFB772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7BF486-C5CE-47F3-351A-9AF439C53D76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AB300D-0A89-13D2-F02E-BB535740F5E5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F95579-AC0A-185D-A7B0-A501D646ACB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75736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1286978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6468489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AB300D-0A89-13D2-F02E-BB535740F5E5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074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F4D39-0B36-9AC7-0320-FF330FB9DD80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287036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207684063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1463570253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13014478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66888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0394797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4813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28.09.2026</a:t>
            </a:fld>
            <a:endParaRPr lang="ru-RU"/>
          </a:p>
        </p:txBody>
      </p:sp>
      <p:sp>
        <p:nvSpPr>
          <p:cNvPr id="199539765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831918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33522459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079210767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331800981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22192824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92635993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20693797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8498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28.09.2026</a:t>
            </a:fld>
            <a:endParaRPr lang="ru-RU"/>
          </a:p>
        </p:txBody>
      </p:sp>
      <p:sp>
        <p:nvSpPr>
          <p:cNvPr id="14581683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003487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163340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0504234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28.09.2026</a:t>
            </a:fld>
            <a:endParaRPr lang="ru-RU"/>
          </a:p>
        </p:txBody>
      </p:sp>
      <p:sp>
        <p:nvSpPr>
          <p:cNvPr id="21324143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96109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11076339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77667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0226023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1677412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28.09.2026</a:t>
            </a:fld>
            <a:endParaRPr lang="ru-RU"/>
          </a:p>
        </p:txBody>
      </p:sp>
      <p:sp>
        <p:nvSpPr>
          <p:cNvPr id="170635572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72454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21985262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34970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85501731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4405400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4224186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535956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28.09.2026</a:t>
            </a:fld>
            <a:endParaRPr lang="ru-RU"/>
          </a:p>
        </p:txBody>
      </p:sp>
      <p:sp>
        <p:nvSpPr>
          <p:cNvPr id="110405337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8135651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26223090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78721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28.09.2026</a:t>
            </a:fld>
            <a:endParaRPr lang="ru-RU"/>
          </a:p>
        </p:txBody>
      </p:sp>
      <p:sp>
        <p:nvSpPr>
          <p:cNvPr id="142174808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59821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32207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17371374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6059395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2345096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28.09.2026</a:t>
            </a:fld>
            <a:endParaRPr lang="ru-RU"/>
          </a:p>
        </p:txBody>
      </p:sp>
      <p:sp>
        <p:nvSpPr>
          <p:cNvPr id="4769619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895401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23976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28.09.2026</a:t>
            </a:fld>
            <a:endParaRPr lang="ru-RU"/>
          </a:p>
        </p:txBody>
      </p:sp>
      <p:sp>
        <p:nvSpPr>
          <p:cNvPr id="105767983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56641563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599800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16024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28.09.2026</a:t>
            </a:fld>
            <a:endParaRPr lang="ru-RU"/>
          </a:p>
        </p:txBody>
      </p:sp>
      <p:sp>
        <p:nvSpPr>
          <p:cNvPr id="3028198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621767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713408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40527267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41336041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41753274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687836121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016511147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75829831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78079412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62213725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91839133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62248381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6087887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73512853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9860736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564926865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394389375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2039545984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619964485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531855237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670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28.09.2026</a:t>
            </a:fld>
            <a:endParaRPr lang="ru-RU"/>
          </a:p>
        </p:txBody>
      </p:sp>
      <p:sp>
        <p:nvSpPr>
          <p:cNvPr id="20131981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833755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77753325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88227255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04132327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81280885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5693362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88302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28.09.2026</a:t>
            </a:fld>
            <a:endParaRPr lang="ru-RU"/>
          </a:p>
        </p:txBody>
      </p:sp>
      <p:sp>
        <p:nvSpPr>
          <p:cNvPr id="3343842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107634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35582526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48369997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29614507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81363005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5511640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76056757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90034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28.09.2026</a:t>
            </a:fld>
            <a:endParaRPr lang="ru-RU"/>
          </a:p>
        </p:txBody>
      </p:sp>
      <p:sp>
        <p:nvSpPr>
          <p:cNvPr id="113824659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453398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77484097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93958979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8273116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514026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1812569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446628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976053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78543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28.09.2026</a:t>
            </a:fld>
            <a:endParaRPr lang="ru-RU"/>
          </a:p>
        </p:txBody>
      </p:sp>
      <p:sp>
        <p:nvSpPr>
          <p:cNvPr id="204253944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1228575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2319661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934693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7754368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817622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821772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017127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8989330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840780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940819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6290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28.09.2026</a:t>
            </a:fld>
            <a:endParaRPr lang="ru-RU"/>
          </a:p>
        </p:txBody>
      </p:sp>
      <p:sp>
        <p:nvSpPr>
          <p:cNvPr id="102395016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69603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886964608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18360453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2757177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5629439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2356471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590166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0355214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382078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427761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1762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28.09.2026</a:t>
            </a:fld>
            <a:endParaRPr lang="ru-RU"/>
          </a:p>
        </p:txBody>
      </p:sp>
      <p:sp>
        <p:nvSpPr>
          <p:cNvPr id="12959990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399963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9008070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219963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10550216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48444797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2868871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33421059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35051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4778205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4017444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69368439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6208972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5064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28.09.2026</a:t>
            </a:fld>
            <a:endParaRPr lang="ru-RU"/>
          </a:p>
        </p:txBody>
      </p:sp>
      <p:sp>
        <p:nvSpPr>
          <p:cNvPr id="91810153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3151179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069840269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9289731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546948093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804926660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196153862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684726735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2095609021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160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18354306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28.09.2026</a:t>
            </a:fld>
            <a:endParaRPr lang="ru-RU"/>
          </a:p>
        </p:txBody>
      </p:sp>
      <p:sp>
        <p:nvSpPr>
          <p:cNvPr id="25097666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243817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3461835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10375818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28053681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00133096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32109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28.09.2026</a:t>
            </a:fld>
            <a:endParaRPr lang="ru-RU"/>
          </a:p>
        </p:txBody>
      </p:sp>
      <p:sp>
        <p:nvSpPr>
          <p:cNvPr id="10893187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68086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76634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0899441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8341528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4003062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909038902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3062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8025884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596650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1497882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08595719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657735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5655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29116579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385271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36700373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983626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243461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595751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7746481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5769809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28.09.2026</a:t>
            </a:fld>
            <a:endParaRPr lang="ru-RU"/>
          </a:p>
        </p:txBody>
      </p:sp>
      <p:sp>
        <p:nvSpPr>
          <p:cNvPr id="1436167034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44634288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68424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824537316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21773342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76678488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3409576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28.09.2026</a:t>
            </a:fld>
            <a:endParaRPr lang="ru-RU"/>
          </a:p>
        </p:txBody>
      </p:sp>
      <p:sp>
        <p:nvSpPr>
          <p:cNvPr id="3092534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2788577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472246005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0052063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78056521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8270346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6546233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72223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5220290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9197652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28.09.2026</a:t>
            </a:fld>
            <a:endParaRPr lang="ru-RU"/>
          </a:p>
        </p:txBody>
      </p:sp>
      <p:sp>
        <p:nvSpPr>
          <p:cNvPr id="193778521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1844813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660317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Прайм ИИ</a:t>
            </a:r>
          </a:p>
        </p:txBody>
      </p:sp>
      <p:sp>
        <p:nvSpPr>
          <p:cNvPr id="1025832937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/>
              <a:t>Задача №7 «Автоматизированный сервис поиска нарушений на строительных площадках Москвы»</a:t>
            </a:r>
          </a:p>
        </p:txBody>
      </p:sp>
      <p:sp>
        <p:nvSpPr>
          <p:cNvPr id="49011338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8AA558EC-5007-80BC-2EF8-1164A2C0EA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1585" b="1585"/>
          <a:stretch/>
        </p:blipFill>
        <p:spPr bwMode="auto">
          <a:xfrm>
            <a:off x="313944" y="441325"/>
            <a:ext cx="5194300" cy="1082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09644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42F790-7AB5-897F-A957-9D0AE75A1B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5010" b="15010"/>
          <a:stretch/>
        </p:blipFill>
        <p:spPr bwMode="auto">
          <a:xfrm>
            <a:off x="0" y="334963"/>
            <a:ext cx="6456363" cy="2971800"/>
          </a:xfrm>
        </p:spPr>
      </p:pic>
      <p:sp>
        <p:nvSpPr>
          <p:cNvPr id="516111143" name="Текст 8"/>
          <p:cNvSpPr txBox="1"/>
          <p:nvPr/>
        </p:nvSpPr>
        <p:spPr bwMode="auto">
          <a:xfrm>
            <a:off x="6819904" y="1933389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dirty="0"/>
          </a:p>
        </p:txBody>
      </p:sp>
      <p:sp>
        <p:nvSpPr>
          <p:cNvPr id="912206122" name="Текст 8"/>
          <p:cNvSpPr txBox="1"/>
          <p:nvPr/>
        </p:nvSpPr>
        <p:spPr bwMode="auto">
          <a:xfrm>
            <a:off x="6836606" y="4744507"/>
            <a:ext cx="5020432" cy="161184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Wingdings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Специализация на специфике РФ и ракурсах CCTV</a:t>
            </a:r>
          </a:p>
          <a:p>
            <a:pPr marL="342900" indent="-342900">
              <a:lnSpc>
                <a:spcPct val="100000"/>
              </a:lnSpc>
              <a:buFont typeface="Wingdings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2Метрика достоверности наблюдения </a:t>
            </a:r>
          </a:p>
          <a:p>
            <a:pPr marL="342900" indent="-342900">
              <a:lnSpc>
                <a:spcPct val="100000"/>
              </a:lnSpc>
              <a:buFont typeface="Wingdings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Бесшовная интеграция с нормативным графиком3</a:t>
            </a:r>
          </a:p>
          <a:p>
            <a:pPr marL="342900" indent="-342900">
              <a:lnSpc>
                <a:spcPct val="100000"/>
              </a:lnSpc>
              <a:buFont typeface="Wingdings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Агрегация </a:t>
            </a:r>
            <a:r>
              <a:rPr lang="ru-RU" sz="1200" dirty="0" err="1">
                <a:solidFill>
                  <a:schemeClr val="tx1"/>
                </a:solidFill>
              </a:rPr>
              <a:t>мультикамерного</a:t>
            </a:r>
            <a:r>
              <a:rPr lang="ru-RU" sz="1200" dirty="0">
                <a:solidFill>
                  <a:schemeClr val="tx1"/>
                </a:solidFill>
              </a:rPr>
              <a:t> охвата</a:t>
            </a:r>
          </a:p>
        </p:txBody>
      </p:sp>
      <p:sp>
        <p:nvSpPr>
          <p:cNvPr id="854849490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Карпунин Егор, </a:t>
            </a:r>
            <a:r>
              <a:rPr lang="ru-RU" b="0" i="0" dirty="0">
                <a:solidFill>
                  <a:schemeClr val="tx1"/>
                </a:solidFill>
                <a:effectLst/>
              </a:rPr>
              <a:t>Менеджер проекта</a:t>
            </a:r>
            <a:r>
              <a:rPr lang="en-US" b="0" i="0" dirty="0">
                <a:solidFill>
                  <a:schemeClr val="tx1"/>
                </a:solidFill>
                <a:effectLst/>
              </a:rPr>
              <a:t>/</a:t>
            </a:r>
            <a:r>
              <a:rPr lang="ru-RU" b="0" i="0" dirty="0">
                <a:solidFill>
                  <a:schemeClr val="tx1"/>
                </a:solidFill>
                <a:effectLst/>
              </a:rPr>
              <a:t>Бэкенд-разработчик</a:t>
            </a:r>
            <a:r>
              <a:rPr lang="en-US" b="0" i="0" dirty="0">
                <a:solidFill>
                  <a:schemeClr val="tx1"/>
                </a:solidFill>
                <a:effectLst/>
              </a:rPr>
              <a:t>/</a:t>
            </a:r>
            <a:r>
              <a:rPr lang="ru-RU" b="0" i="0" dirty="0">
                <a:solidFill>
                  <a:schemeClr val="tx1"/>
                </a:solidFill>
                <a:effectLst/>
              </a:rPr>
              <a:t>Компьютерное зрение</a:t>
            </a:r>
            <a:endParaRPr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chemeClr val="tx1"/>
                </a:solidFill>
              </a:rPr>
              <a:t>2 </a:t>
            </a:r>
            <a:r>
              <a:rPr lang="ru-RU" dirty="0">
                <a:solidFill>
                  <a:schemeClr val="tx1"/>
                </a:solidFill>
              </a:rPr>
              <a:t>студента МФТИ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объединили компетенции в глубинном обучении и веб-архитектуре для создания прикладных наукоемких систем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dirty="0">
                <a:solidFill>
                  <a:schemeClr val="tx1"/>
                </a:solidFill>
              </a:rPr>
              <a:t>Московский физико-технический институт (МФТИ)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ФЭФМ, 3 курс</a:t>
            </a:r>
            <a:endParaRPr lang="ru-RU" dirty="0"/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г. Москва / г. Долгопрудный, Московская область</a:t>
            </a:r>
            <a:endParaRPr lang="ru-RU"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998984255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735945168" name="Заголовок 6"/>
          <p:cNvSpPr>
            <a:spLocks noGrp="1"/>
          </p:cNvSpPr>
          <p:nvPr>
            <p:ph type="title"/>
          </p:nvPr>
        </p:nvSpPr>
        <p:spPr bwMode="auto">
          <a:xfrm>
            <a:off x="6836606" y="714423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 </a:t>
            </a:r>
            <a:r>
              <a:rPr lang="en-US" sz="2400" dirty="0">
                <a:solidFill>
                  <a:schemeClr val="accent5"/>
                </a:solidFill>
                <a:latin typeface="Montserrat"/>
              </a:rPr>
              <a:t>“</a:t>
            </a:r>
            <a:r>
              <a:rPr lang="ru-RU" sz="2400" dirty="0">
                <a:solidFill>
                  <a:schemeClr val="accent5"/>
                </a:solidFill>
                <a:latin typeface="Montserrat"/>
              </a:rPr>
              <a:t>Прайм ИИ</a:t>
            </a:r>
            <a:r>
              <a:rPr lang="en-US" sz="2400" dirty="0">
                <a:solidFill>
                  <a:schemeClr val="accent5"/>
                </a:solidFill>
                <a:latin typeface="Montserrat"/>
              </a:rPr>
              <a:t>”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862717731" name="Прямая соединительная линия 6"/>
          <p:cNvCxnSpPr/>
          <p:nvPr/>
        </p:nvCxnSpPr>
        <p:spPr bwMode="auto">
          <a:xfrm>
            <a:off x="6850274" y="1830054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6393014" name="Прямая соединительная линия 15"/>
          <p:cNvCxnSpPr/>
          <p:nvPr/>
        </p:nvCxnSpPr>
        <p:spPr bwMode="auto">
          <a:xfrm>
            <a:off x="6897347" y="437387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092047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02753194" name="Текст 8"/>
          <p:cNvSpPr txBox="1"/>
          <p:nvPr/>
        </p:nvSpPr>
        <p:spPr bwMode="auto">
          <a:xfrm>
            <a:off x="6836607" y="4410174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dirty="0"/>
          </a:p>
        </p:txBody>
      </p:sp>
      <p:sp>
        <p:nvSpPr>
          <p:cNvPr id="550355000" name="Текст 8"/>
          <p:cNvSpPr txBox="1"/>
          <p:nvPr/>
        </p:nvSpPr>
        <p:spPr bwMode="auto">
          <a:xfrm>
            <a:off x="6836606" y="2282056"/>
            <a:ext cx="5037135" cy="200677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 b="1" dirty="0">
                <a:solidFill>
                  <a:schemeClr val="tx1"/>
                </a:solidFill>
              </a:rPr>
              <a:t>Прайм ИИ</a:t>
            </a:r>
            <a:r>
              <a:rPr lang="ru-RU" sz="1200" dirty="0">
                <a:solidFill>
                  <a:schemeClr val="tx1"/>
                </a:solidFill>
              </a:rPr>
              <a:t>— это веб-платформа объективного строительного контроля на базе компьютерного зрения и онтологического сопоставления «План-Факт». Сервис анализирует снимки со стройплощадок, детектирует целевые типы строительной техники, извлекает дату съемки и сверяет фактический состав машин с активным этапом утвержденного графика СМР (Excel ДГП). При обнаружении дефицита критической техники или простоя система рассчитывает риск срыва сроков и в один клик формирует юридически значимый Акт нарушений для инспектора.</a:t>
            </a:r>
          </a:p>
        </p:txBody>
      </p:sp>
      <p:sp>
        <p:nvSpPr>
          <p:cNvPr id="822809027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94697" name="Скругленный прямоугольник 55"/>
          <p:cNvSpPr/>
          <p:nvPr/>
        </p:nvSpPr>
        <p:spPr bwMode="auto">
          <a:xfrm>
            <a:off x="379068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86615066" name="Текст 8"/>
          <p:cNvSpPr txBox="1"/>
          <p:nvPr/>
        </p:nvSpPr>
        <p:spPr bwMode="auto">
          <a:xfrm>
            <a:off x="3962965" y="4250028"/>
            <a:ext cx="1894355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b="0" i="0" dirty="0">
                <a:solidFill>
                  <a:schemeClr val="tx1"/>
                </a:solidFill>
                <a:effectLst/>
              </a:rPr>
              <a:t>Менеджер проекта/ Компьютерное зрение/ Бэкенд-разработчик/ </a:t>
            </a:r>
            <a:r>
              <a:rPr lang="ru-RU" sz="1100" b="0" i="0" dirty="0" err="1">
                <a:solidFill>
                  <a:schemeClr val="tx1"/>
                </a:solidFill>
                <a:effectLst/>
              </a:rPr>
              <a:t>Фронтенд</a:t>
            </a:r>
            <a:r>
              <a:rPr lang="ru-RU" sz="1100" b="0" i="0" dirty="0">
                <a:solidFill>
                  <a:schemeClr val="tx1"/>
                </a:solidFill>
                <a:effectLst/>
              </a:rPr>
              <a:t>-разработчик</a:t>
            </a:r>
            <a:endParaRPr lang="ru-RU" sz="11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100" dirty="0">
                <a:solidFill>
                  <a:schemeClr val="tx1"/>
                </a:solidFill>
              </a:rPr>
              <a:t>@ek_mipt</a:t>
            </a:r>
            <a:endParaRPr lang="ru-RU" sz="11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</a:rPr>
              <a:t>89164211232</a:t>
            </a:r>
            <a:endParaRPr sz="11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</a:rPr>
              <a:t>МФТИ</a:t>
            </a:r>
          </a:p>
        </p:txBody>
      </p:sp>
      <p:sp>
        <p:nvSpPr>
          <p:cNvPr id="1034064507" name="Текст 8"/>
          <p:cNvSpPr txBox="1"/>
          <p:nvPr/>
        </p:nvSpPr>
        <p:spPr bwMode="auto">
          <a:xfrm>
            <a:off x="396296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Егор Карпунин</a:t>
            </a:r>
            <a:endParaRPr lang="ru-RU" dirty="0"/>
          </a:p>
        </p:txBody>
      </p:sp>
      <p:sp>
        <p:nvSpPr>
          <p:cNvPr id="1804488050" name="Скругленный прямоугольник 58"/>
          <p:cNvSpPr/>
          <p:nvPr/>
        </p:nvSpPr>
        <p:spPr bwMode="auto">
          <a:xfrm>
            <a:off x="6096000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873669" name="Текст 8"/>
          <p:cNvSpPr txBox="1"/>
          <p:nvPr/>
        </p:nvSpPr>
        <p:spPr bwMode="auto">
          <a:xfrm>
            <a:off x="6268284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b="0" i="0" dirty="0">
                <a:solidFill>
                  <a:schemeClr val="tx1"/>
                </a:solidFill>
                <a:effectLst/>
              </a:rPr>
              <a:t>Аналитик данных/ Компьютерное зрение</a:t>
            </a:r>
            <a:endParaRPr lang="ru-RU" sz="1100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>
                <a:solidFill>
                  <a:schemeClr val="tx1"/>
                </a:solidFill>
              </a:rPr>
              <a:t>@ArchibaldPhystechovich</a:t>
            </a:r>
            <a:endParaRPr lang="ru-RU" sz="11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</a:rPr>
              <a:t>89779483500</a:t>
            </a:r>
            <a:endParaRPr lang="ru-RU" sz="1100"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100" dirty="0">
                <a:solidFill>
                  <a:schemeClr val="tx1"/>
                </a:solidFill>
              </a:rPr>
              <a:t>МФТИ</a:t>
            </a:r>
          </a:p>
        </p:txBody>
      </p:sp>
      <p:sp>
        <p:nvSpPr>
          <p:cNvPr id="20725352" name="Текст 8"/>
          <p:cNvSpPr txBox="1"/>
          <p:nvPr/>
        </p:nvSpPr>
        <p:spPr bwMode="auto">
          <a:xfrm>
            <a:off x="626828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Глеб </a:t>
            </a:r>
            <a:r>
              <a:rPr lang="ru-RU" sz="1600" b="1" dirty="0" err="1">
                <a:solidFill>
                  <a:schemeClr val="accent5"/>
                </a:solidFill>
              </a:rPr>
              <a:t>Маматкулов</a:t>
            </a:r>
            <a:endParaRPr dirty="0"/>
          </a:p>
        </p:txBody>
      </p:sp>
      <p:sp>
        <p:nvSpPr>
          <p:cNvPr id="74595711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5477655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F88133-ED11-A661-99F9-89A6FA3A1AD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3" b="5253"/>
          <a:stretch>
            <a:fillRect/>
          </a:stretch>
        </p:blipFill>
        <p:spPr bwMode="auto">
          <a:xfrm>
            <a:off x="4025900" y="1827213"/>
            <a:ext cx="1722438" cy="1541462"/>
          </a:xfrm>
        </p:spPr>
      </p:pic>
      <p:sp>
        <p:nvSpPr>
          <p:cNvPr id="175208113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6331072" y="1809238"/>
            <a:ext cx="1722567" cy="1559717"/>
          </a:xfrm>
        </p:spPr>
      </p:sp>
      <p:sp>
        <p:nvSpPr>
          <p:cNvPr id="1431173762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Прайм 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000168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51294082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8072220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Прайм ИИ</a:t>
            </a:r>
          </a:p>
        </p:txBody>
      </p:sp>
      <p:sp>
        <p:nvSpPr>
          <p:cNvPr id="181989344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398359"/>
            <a:ext cx="11006121" cy="9342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Мы познакомились в МФТИ. Вместе вели научно-исследовательский проект по кафедральному вопросу по выбору: </a:t>
            </a:r>
            <a:r>
              <a:rPr lang="ru-RU" sz="1200" i="1" dirty="0">
                <a:solidFill>
                  <a:schemeClr val="tx1"/>
                </a:solidFill>
              </a:rPr>
              <a:t>«</a:t>
            </a:r>
            <a:r>
              <a:rPr lang="ru-RU" sz="1200" dirty="0">
                <a:solidFill>
                  <a:schemeClr val="tx1"/>
                </a:solidFill>
              </a:rPr>
              <a:t>Применение методов Deep Learning в оптических системах</a:t>
            </a:r>
            <a:r>
              <a:rPr lang="ru-RU" sz="1200" i="1" dirty="0">
                <a:solidFill>
                  <a:schemeClr val="tx1"/>
                </a:solidFill>
              </a:rPr>
              <a:t>»</a:t>
            </a:r>
            <a:r>
              <a:rPr lang="ru-RU" sz="1200" dirty="0">
                <a:solidFill>
                  <a:schemeClr val="tx1"/>
                </a:solidFill>
              </a:rPr>
              <a:t>, который занял призовое место. Проанализировав опыт участия в прошлых </a:t>
            </a:r>
            <a:r>
              <a:rPr lang="ru-RU" sz="1200" dirty="0" err="1">
                <a:solidFill>
                  <a:schemeClr val="tx1"/>
                </a:solidFill>
              </a:rPr>
              <a:t>хакатонах</a:t>
            </a:r>
            <a:r>
              <a:rPr lang="ru-RU" sz="1200" dirty="0">
                <a:solidFill>
                  <a:schemeClr val="tx1"/>
                </a:solidFill>
              </a:rPr>
              <a:t>, мы сфокусировались на системной прокачке навыков: углубленно прошли профильные курсы (DLS, </a:t>
            </a:r>
            <a:r>
              <a:rPr lang="en-US" sz="1200" dirty="0">
                <a:solidFill>
                  <a:schemeClr val="tx1"/>
                </a:solidFill>
              </a:rPr>
              <a:t>Ph</a:t>
            </a:r>
            <a:r>
              <a:rPr lang="ru-RU" sz="1200" dirty="0">
                <a:solidFill>
                  <a:schemeClr val="tx1"/>
                </a:solidFill>
              </a:rPr>
              <a:t>DS), выстроили четкое распределение ролей в разработке и сформировали слаженный инженерный тандем, где фундаментальные знания сочетаются с гибкой продуктовой разработкой.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958098352" name="Текст 8"/>
          <p:cNvSpPr txBox="1"/>
          <p:nvPr/>
        </p:nvSpPr>
        <p:spPr bwMode="auto">
          <a:xfrm>
            <a:off x="533606" y="1171138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286714422" name="Текст 8"/>
          <p:cNvSpPr txBox="1"/>
          <p:nvPr/>
        </p:nvSpPr>
        <p:spPr bwMode="auto">
          <a:xfrm>
            <a:off x="533606" y="4931960"/>
            <a:ext cx="11006121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00000"/>
              </a:lnSpc>
              <a:buAutoNum type="arabicPeriod"/>
              <a:defRPr/>
            </a:pP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Ограничение аппаратных ресурсов (VRAM &lt; 2–4 ГБ): </a:t>
            </a:r>
            <a:r>
              <a:rPr lang="ru-RU" altLang="ru-RU" sz="1200" dirty="0">
                <a:solidFill>
                  <a:schemeClr val="tx1"/>
                </a:solidFill>
              </a:rPr>
              <a:t>В качестве </a:t>
            </a:r>
            <a:r>
              <a:rPr lang="en-US" altLang="ru-RU" sz="1200" dirty="0">
                <a:solidFill>
                  <a:schemeClr val="tx1"/>
                </a:solidFill>
              </a:rPr>
              <a:t>MVP </a:t>
            </a:r>
            <a:r>
              <a:rPr lang="ru-RU" altLang="ru-RU" sz="1200" dirty="0">
                <a:solidFill>
                  <a:schemeClr val="tx1"/>
                </a:solidFill>
              </a:rPr>
              <a:t>продукта было решено 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Решение: оптимизировали конвейер на базе легковесных сетей YOLO (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Nano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/Small) с очисткой кэша, сократив потребление памяти до 1.2 ГБ без потери точности</a:t>
            </a:r>
          </a:p>
          <a:p>
            <a:pPr marL="228600" indent="-228600">
              <a:lnSpc>
                <a:spcPct val="100000"/>
              </a:lnSpc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Галлюцинации и дублирование рамок: Базовые модели определяли стрелы кранов и экскаваторов как отдельные машины. Решение: внедрили Class-</a:t>
            </a:r>
            <a:r>
              <a:rPr lang="ru-RU" sz="1200" dirty="0" err="1">
                <a:solidFill>
                  <a:schemeClr val="tx1"/>
                </a:solidFill>
              </a:rPr>
              <a:t>Agnostic</a:t>
            </a:r>
            <a:r>
              <a:rPr lang="ru-RU" sz="1200" dirty="0">
                <a:solidFill>
                  <a:schemeClr val="tx1"/>
                </a:solidFill>
              </a:rPr>
              <a:t> NMS и алгоритмический пост-процессинг подавления вложенных рамок 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</a:t>
            </a:r>
          </a:p>
          <a:p>
            <a:pPr marL="228600" indent="-228600">
              <a:lnSpc>
                <a:spcPct val="100000"/>
              </a:lnSpc>
              <a:buFont typeface="Wingdings"/>
              <a:buAutoNum type="arabicPeriod"/>
              <a:defRPr/>
            </a:pPr>
            <a:r>
              <a:rPr lang="ru-RU" sz="1200" dirty="0">
                <a:solidFill>
                  <a:schemeClr val="tx1"/>
                </a:solidFill>
              </a:rPr>
              <a:t>Сквозная архитектура с нуля: За время </a:t>
            </a:r>
            <a:r>
              <a:rPr lang="ru-RU" sz="1200" dirty="0" err="1">
                <a:solidFill>
                  <a:schemeClr val="tx1"/>
                </a:solidFill>
              </a:rPr>
              <a:t>хакатона</a:t>
            </a:r>
            <a:r>
              <a:rPr lang="ru-RU" sz="1200" dirty="0">
                <a:solidFill>
                  <a:schemeClr val="tx1"/>
                </a:solidFill>
              </a:rPr>
              <a:t> подняли отказоустойчивый стек (</a:t>
            </a:r>
            <a:r>
              <a:rPr lang="ru-RU" sz="1200" dirty="0" err="1">
                <a:solidFill>
                  <a:schemeClr val="tx1"/>
                </a:solidFill>
              </a:rPr>
              <a:t>FastAPI</a:t>
            </a:r>
            <a:r>
              <a:rPr lang="ru-RU" sz="1200" dirty="0">
                <a:solidFill>
                  <a:schemeClr val="tx1"/>
                </a:solidFill>
              </a:rPr>
              <a:t> + </a:t>
            </a:r>
            <a:r>
              <a:rPr lang="ru-RU" sz="1200" dirty="0" err="1">
                <a:solidFill>
                  <a:schemeClr val="tx1"/>
                </a:solidFill>
              </a:rPr>
              <a:t>Vue</a:t>
            </a:r>
            <a:r>
              <a:rPr lang="ru-RU" sz="1200" dirty="0">
                <a:solidFill>
                  <a:schemeClr val="tx1"/>
                </a:solidFill>
              </a:rPr>
              <a:t> 3 SPA + </a:t>
            </a:r>
            <a:r>
              <a:rPr lang="ru-RU" sz="1200" dirty="0" err="1">
                <a:solidFill>
                  <a:schemeClr val="tx1"/>
                </a:solidFill>
              </a:rPr>
              <a:t>SQLite</a:t>
            </a:r>
            <a:r>
              <a:rPr lang="ru-RU" sz="1200" dirty="0">
                <a:solidFill>
                  <a:schemeClr val="tx1"/>
                </a:solidFill>
              </a:rPr>
              <a:t>/</a:t>
            </a:r>
            <a:r>
              <a:rPr lang="ru-RU" sz="1200" dirty="0" err="1">
                <a:solidFill>
                  <a:schemeClr val="tx1"/>
                </a:solidFill>
              </a:rPr>
              <a:t>PostgreSQL</a:t>
            </a:r>
            <a:r>
              <a:rPr lang="ru-RU" sz="1200" dirty="0">
                <a:solidFill>
                  <a:schemeClr val="tx1"/>
                </a:solidFill>
              </a:rPr>
              <a:t> + </a:t>
            </a:r>
            <a:r>
              <a:rPr lang="ru-RU" sz="1200" dirty="0" err="1">
                <a:solidFill>
                  <a:schemeClr val="tx1"/>
                </a:solidFill>
              </a:rPr>
              <a:t>Docker</a:t>
            </a:r>
            <a:r>
              <a:rPr lang="ru-RU" sz="1200" dirty="0">
                <a:solidFill>
                  <a:schemeClr val="tx1"/>
                </a:solidFill>
              </a:rPr>
              <a:t>), покрытый 40+ интеграционными тестами.</a:t>
            </a:r>
            <a:endParaRPr kumimoji="0" lang="ru-RU" altLang="ru-RU" sz="1200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228600" indent="-228600">
              <a:lnSpc>
                <a:spcPct val="100000"/>
              </a:lnSpc>
              <a:buAutoNum type="arabicPeriod"/>
              <a:defRPr/>
            </a:pPr>
            <a:endParaRPr lang="ru-RU" sz="1200" dirty="0">
              <a:solidFill>
                <a:schemeClr val="tx1"/>
              </a:solidFill>
            </a:endParaRPr>
          </a:p>
          <a:p>
            <a:pPr marL="228600" indent="-228600">
              <a:lnSpc>
                <a:spcPct val="100000"/>
              </a:lnSpc>
              <a:buAutoNum type="arabicPeriod"/>
              <a:defRPr/>
            </a:pPr>
            <a:endParaRPr kumimoji="0" lang="ru-RU" altLang="ru-RU" sz="1200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 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917257443" name="Текст 8"/>
          <p:cNvSpPr txBox="1"/>
          <p:nvPr/>
        </p:nvSpPr>
        <p:spPr bwMode="auto">
          <a:xfrm>
            <a:off x="533606" y="4430622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dirty="0"/>
          </a:p>
        </p:txBody>
      </p:sp>
      <p:sp>
        <p:nvSpPr>
          <p:cNvPr id="1574641184" name="Текст 8"/>
          <p:cNvSpPr txBox="1"/>
          <p:nvPr/>
        </p:nvSpPr>
        <p:spPr bwMode="auto">
          <a:xfrm>
            <a:off x="507849" y="3126092"/>
            <a:ext cx="11006119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Мы убеждены, что </a:t>
            </a:r>
            <a:r>
              <a:rPr lang="ru-RU" sz="1200" dirty="0">
                <a:solidFill>
                  <a:srgbClr val="FC3777"/>
                </a:solidFill>
              </a:rPr>
              <a:t>компьютерное зрение — это главный первый шаг к комплексной роботизации и освобождению человека от рутинного труда</a:t>
            </a:r>
            <a:r>
              <a:rPr lang="ru-RU" sz="1200" dirty="0">
                <a:solidFill>
                  <a:schemeClr val="tx1"/>
                </a:solidFill>
              </a:rPr>
              <a:t>. Недопустимо, когда квалифицированные инженеры строительного контроля и руководители проектов тратят часы на ручной просмотр сотен видеокамер и визуальный пересчет самосвалов. Нас зажгла идея создать систему, которая переводит управление стройкомплексом Москвы из режима «запоздалого реагирования на срыв» в режим проактивного предотвращения аварийных задержек. Стройплощадка — сложная, визуально зашумленная среда, и решить такую задачу для города было настоящим профессиональным вызовом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935201906" name="Текст 8"/>
          <p:cNvSpPr txBox="1"/>
          <p:nvPr/>
        </p:nvSpPr>
        <p:spPr bwMode="auto">
          <a:xfrm>
            <a:off x="533606" y="256521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  <a:endParaRPr dirty="0"/>
          </a:p>
        </p:txBody>
      </p:sp>
      <p:cxnSp>
        <p:nvCxnSpPr>
          <p:cNvPr id="880744678" name="Прямая соединительная линия 4"/>
          <p:cNvCxnSpPr/>
          <p:nvPr/>
        </p:nvCxnSpPr>
        <p:spPr bwMode="auto">
          <a:xfrm>
            <a:off x="623888" y="2489658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6671145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7981379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7165535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661670434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90288324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75273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3037228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070870001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28980747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218560137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440614" y="1765347"/>
            <a:ext cx="5251236" cy="420364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200" b="1" dirty="0">
                <a:solidFill>
                  <a:schemeClr val="tx1"/>
                </a:solidFill>
              </a:rPr>
              <a:t>Computer Vision &amp; </a:t>
            </a:r>
            <a:r>
              <a:rPr lang="ru-RU" sz="1200" b="1" dirty="0" err="1">
                <a:solidFill>
                  <a:schemeClr val="tx1"/>
                </a:solidFill>
              </a:rPr>
              <a:t>Инференс</a:t>
            </a:r>
            <a:r>
              <a:rPr lang="ru-RU" sz="1200" b="1" dirty="0">
                <a:solidFill>
                  <a:schemeClr val="tx1"/>
                </a:solidFill>
              </a:rPr>
              <a:t>: </a:t>
            </a:r>
            <a:r>
              <a:rPr lang="ru-RU" sz="1200" dirty="0">
                <a:solidFill>
                  <a:schemeClr val="tx1"/>
                </a:solidFill>
              </a:rPr>
              <a:t>нейросеть от YOLO, </a:t>
            </a:r>
            <a:r>
              <a:rPr lang="ru-RU" sz="1200" dirty="0" err="1">
                <a:solidFill>
                  <a:schemeClr val="tx1"/>
                </a:solidFill>
              </a:rPr>
              <a:t>дообученная</a:t>
            </a:r>
            <a:r>
              <a:rPr lang="ru-RU" sz="1200" dirty="0">
                <a:solidFill>
                  <a:schemeClr val="tx1"/>
                </a:solidFill>
              </a:rPr>
              <a:t> под 10 классов строительной техники (экскаватор, самосвал, автокран, каток, бетоносмеситель, бульдозер, манипулятор, грузовик). Скорость отклика: 25–35 мс на кадр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Аналитическое ядро (</a:t>
            </a:r>
            <a:r>
              <a:rPr lang="ru-RU" sz="1200" b="1" dirty="0" err="1">
                <a:solidFill>
                  <a:schemeClr val="tx1"/>
                </a:solidFill>
              </a:rPr>
              <a:t>Matcher</a:t>
            </a:r>
            <a:r>
              <a:rPr lang="ru-RU" sz="1200" b="1" dirty="0">
                <a:solidFill>
                  <a:schemeClr val="tx1"/>
                </a:solidFill>
              </a:rPr>
              <a:t> &amp; </a:t>
            </a:r>
            <a:r>
              <a:rPr lang="ru-RU" sz="1200" b="1" dirty="0" err="1">
                <a:solidFill>
                  <a:schemeClr val="tx1"/>
                </a:solidFill>
              </a:rPr>
              <a:t>Parser</a:t>
            </a:r>
            <a:r>
              <a:rPr lang="ru-RU" sz="1200" b="1" dirty="0">
                <a:solidFill>
                  <a:schemeClr val="tx1"/>
                </a:solidFill>
              </a:rPr>
              <a:t>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Парсер графиков СМР: динамическое извлечение этапов и требований к ресурсам из официальных Excel-файлов ДГП. </a:t>
            </a:r>
            <a:endParaRPr lang="en-US" sz="12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Автопривязка</a:t>
            </a:r>
            <a:r>
              <a:rPr lang="ru-RU" sz="1200" dirty="0">
                <a:solidFill>
                  <a:schemeClr val="tx1"/>
                </a:solidFill>
              </a:rPr>
              <a:t> к дате через метаданные EXIF кадра.</a:t>
            </a:r>
            <a:endParaRPr lang="en-US" sz="12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Мультикамерная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агрегация</a:t>
            </a:r>
            <a:r>
              <a:rPr kumimoji="0" lang="en-US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(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evaluate_batch_compliance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): объединение снимков с нескольких секторов объекта для ликвидации слепых зон. </a:t>
            </a:r>
            <a:endParaRPr lang="ru-RU" sz="12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200" b="1" dirty="0">
                <a:solidFill>
                  <a:schemeClr val="tx1"/>
                </a:solidFill>
              </a:rPr>
              <a:t>Архитектурный стек</a:t>
            </a:r>
            <a:r>
              <a:rPr lang="en-US" sz="1200" b="1" dirty="0">
                <a:solidFill>
                  <a:schemeClr val="tx1"/>
                </a:solidFill>
              </a:rPr>
              <a:t>:</a:t>
            </a:r>
          </a:p>
          <a:p>
            <a:pPr lvl="1">
              <a:defRPr/>
            </a:pP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Backend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: 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FastAPI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(Python 3.13), асинхронный вызов 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инференса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в отдельных потоках (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run_in_threadpool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), 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Pydantic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v2 контракты, </a:t>
            </a:r>
            <a:r>
              <a:rPr kumimoji="0" lang="ru-RU" altLang="ru-RU" sz="1200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SQLAlchemy</a:t>
            </a:r>
            <a:r>
              <a:rPr kumimoji="0" lang="ru-RU" altLang="ru-RU" sz="1200" cap="none" normalizeH="0" baseline="0" dirty="0">
                <a:ln>
                  <a:noFill/>
                </a:ln>
                <a:solidFill>
                  <a:schemeClr val="tx1"/>
                </a:solidFill>
              </a:rPr>
              <a:t> ORM. </a:t>
            </a:r>
          </a:p>
          <a:p>
            <a:pPr lvl="1">
              <a:defRPr/>
            </a:pPr>
            <a:r>
              <a:rPr lang="en-US" sz="1200" dirty="0">
                <a:solidFill>
                  <a:schemeClr val="tx1"/>
                </a:solidFill>
              </a:rPr>
              <a:t>Frontend: Vue 3 (Composition API), </a:t>
            </a:r>
            <a:r>
              <a:rPr lang="en-US" sz="1200" dirty="0" err="1">
                <a:solidFill>
                  <a:schemeClr val="tx1"/>
                </a:solidFill>
              </a:rPr>
              <a:t>Vite</a:t>
            </a:r>
            <a:r>
              <a:rPr lang="en-US" sz="1200" dirty="0">
                <a:solidFill>
                  <a:schemeClr val="tx1"/>
                </a:solidFill>
              </a:rPr>
              <a:t>, Canvas-</a:t>
            </a:r>
            <a:r>
              <a:rPr lang="ru-RU" sz="1200" dirty="0">
                <a:solidFill>
                  <a:schemeClr val="tx1"/>
                </a:solidFill>
              </a:rPr>
              <a:t>рендеринг разметки поверх кадра, интерактивная диаграмма </a:t>
            </a:r>
            <a:r>
              <a:rPr lang="ru-RU" sz="1200" dirty="0" err="1">
                <a:solidFill>
                  <a:schemeClr val="tx1"/>
                </a:solidFill>
              </a:rPr>
              <a:t>Ганта</a:t>
            </a:r>
            <a:endParaRPr lang="ru-RU" sz="1200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ru-RU" sz="1200" dirty="0" err="1">
                <a:solidFill>
                  <a:schemeClr val="tx1"/>
                </a:solidFill>
              </a:rPr>
              <a:t>DevOps</a:t>
            </a:r>
            <a:r>
              <a:rPr lang="ru-RU" sz="1200" dirty="0">
                <a:solidFill>
                  <a:schemeClr val="tx1"/>
                </a:solidFill>
              </a:rPr>
              <a:t> &amp; Экспорт: Полная контейнеризация через </a:t>
            </a:r>
            <a:r>
              <a:rPr lang="ru-RU" sz="1200" dirty="0" err="1">
                <a:solidFill>
                  <a:schemeClr val="tx1"/>
                </a:solidFill>
              </a:rPr>
              <a:t>Docker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ru-RU" sz="1200" dirty="0" err="1">
                <a:solidFill>
                  <a:schemeClr val="tx1"/>
                </a:solidFill>
              </a:rPr>
              <a:t>Compose</a:t>
            </a:r>
            <a:r>
              <a:rPr lang="ru-RU" sz="1200" dirty="0">
                <a:solidFill>
                  <a:schemeClr val="tx1"/>
                </a:solidFill>
              </a:rPr>
              <a:t>, встроенный генератор официальных PDF-актов со штампом строительного контроля. Готовая шина под интеграцию </a:t>
            </a:r>
            <a:r>
              <a:rPr lang="ru-RU" sz="1200" dirty="0" err="1">
                <a:solidFill>
                  <a:schemeClr val="tx1"/>
                </a:solidFill>
              </a:rPr>
              <a:t>Celery</a:t>
            </a:r>
            <a:r>
              <a:rPr lang="ru-RU" sz="1200" dirty="0">
                <a:solidFill>
                  <a:schemeClr val="tx1"/>
                </a:solidFill>
              </a:rPr>
              <a:t>/</a:t>
            </a:r>
            <a:r>
              <a:rPr lang="ru-RU" sz="1200" dirty="0" err="1">
                <a:solidFill>
                  <a:schemeClr val="tx1"/>
                </a:solidFill>
              </a:rPr>
              <a:t>Redis</a:t>
            </a:r>
            <a:r>
              <a:rPr lang="ru-RU" sz="1200" dirty="0">
                <a:solidFill>
                  <a:schemeClr val="tx1"/>
                </a:solidFill>
              </a:rPr>
              <a:t> и RTSP-видеопотоков. </a:t>
            </a:r>
          </a:p>
        </p:txBody>
      </p:sp>
      <p:sp>
        <p:nvSpPr>
          <p:cNvPr id="840238377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271928" y="2044839"/>
            <a:ext cx="5358004" cy="3876445"/>
          </a:xfrm>
        </p:spPr>
        <p:txBody>
          <a:bodyPr>
            <a:normAutofit lnSpcReduction="10000"/>
          </a:bodyPr>
          <a:lstStyle/>
          <a:p>
            <a:r>
              <a:rPr lang="ru-RU" sz="1200" b="1" u="none" strike="noStrike" dirty="0">
                <a:solidFill>
                  <a:schemeClr val="tx1"/>
                </a:solidFill>
                <a:effectLst/>
              </a:rPr>
              <a:t>Ценность для города и ДГП Москвы:</a:t>
            </a:r>
            <a:endParaRPr lang="ru-RU" sz="1200" b="1" dirty="0">
              <a:solidFill>
                <a:schemeClr val="tx1"/>
              </a:solidFill>
            </a:endParaRP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Сокращение трудозатрат инспекционного контроля на 60–75%.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Раннее обнаружение срыва сроков: выявление дефицита спецтехники в первые 24 часа вместо недель задержки.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Юридическая доказательная база: мгновенный экспорт готового Акта с фотофиксацией для претензионной работы с подрядчиками.</a:t>
            </a:r>
          </a:p>
          <a:p>
            <a:r>
              <a:rPr lang="ru-RU" sz="1200" b="1" u="none" strike="noStrike" dirty="0">
                <a:solidFill>
                  <a:schemeClr val="tx1"/>
                </a:solidFill>
                <a:effectLst/>
              </a:rPr>
              <a:t>Универсальность и масштабирование: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Архитектура инвариантна к типу стройки: подходит для жилых домов по программе Реновации, дорожных развязок, метрополитена и социальных объектов. 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Модульность онтологии: добавление новых видов техники или этапов требует лишь обновления справочника, без переписывания кодовой базы. </a:t>
            </a:r>
          </a:p>
          <a:p>
            <a:r>
              <a:rPr lang="ru-RU" sz="1200" b="1" u="none" strike="noStrike" dirty="0">
                <a:solidFill>
                  <a:schemeClr val="tx1"/>
                </a:solidFill>
                <a:effectLst/>
              </a:rPr>
              <a:t>Перспективы внедрения: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Прямой коннект к Единому центру хранения данных (ЕЦХД) Москвы для автономного опроса камер по расписанию. 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Внутриобъектовый редактор технологических зон (привязка камер к котловану, монолиту, КПП). </a:t>
            </a:r>
          </a:p>
          <a:p>
            <a:pPr lvl="1"/>
            <a:r>
              <a:rPr lang="ru-RU" sz="1150" b="0" u="none" strike="noStrike" dirty="0">
                <a:solidFill>
                  <a:schemeClr val="tx1"/>
                </a:solidFill>
                <a:effectLst/>
              </a:rPr>
              <a:t>Расширение на внутренние СМР (отделка, инженерные сети) и контроль промышленной безопасности/СИЗ.</a:t>
            </a:r>
          </a:p>
        </p:txBody>
      </p:sp>
      <p:sp>
        <p:nvSpPr>
          <p:cNvPr id="123972058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КОРОТКО О РЕШЕНИИ</a:t>
            </a:r>
            <a:endParaRPr dirty="0"/>
          </a:p>
        </p:txBody>
      </p:sp>
      <p:sp>
        <p:nvSpPr>
          <p:cNvPr id="860018154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365781"/>
            <a:ext cx="4032037" cy="38682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1476283661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2" y="1359409"/>
            <a:ext cx="4583113" cy="4059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445633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90719176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49896478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86981285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698078363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01977989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45612997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l">
              <a:defRPr/>
            </a:pPr>
            <a:r>
              <a:rPr kumimoji="0" lang="ru-RU" altLang="ru-RU" sz="2400" b="1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Суть платформы: </a:t>
            </a:r>
            <a:r>
              <a:rPr kumimoji="0" lang="ru-RU" altLang="ru-RU" sz="24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Веб-приложение объективного контроля строительно-монтажных работ на базе компьютерного зрения, сопоставляющее фактическое состояние стройплощадки с утвержденным календарным графиком СМР в формате Excel от ДГП Москвы. </a:t>
            </a:r>
          </a:p>
          <a:p>
            <a:pPr algn="l">
              <a:defRPr/>
            </a:pPr>
            <a:endParaRPr kumimoji="0" lang="ru-RU" altLang="ru-RU" sz="2400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  <a:p>
            <a:pPr algn="l">
              <a:defRPr/>
            </a:pP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485566147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078803" y="2489662"/>
            <a:ext cx="5648324" cy="60011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kumimoji="0" lang="ru-RU" altLang="ru-RU" sz="12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Захват данных и временная привязка: Прием фотоматериалов с постов наблюдения или видеопотоков. Модуль EXIF автоматически определяет дату и время фиксации кадра без участия оператора.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5753167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096001" y="3429000"/>
            <a:ext cx="5648324" cy="65703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kumimoji="0" lang="ru-RU" altLang="ru-RU" sz="12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Нейросетевая детекция: Модель YOLO находит и классифицирует 8 нормативных типов строительной техники (самосвалы, экскаваторы, краны, бетоносмесители и др.) с фильтрацией дублирующих рамок через Class-</a:t>
            </a:r>
            <a:r>
              <a:rPr kumimoji="0" lang="ru-RU" altLang="ru-RU" sz="1200" strike="noStrike" cap="none" normalizeH="0" baseline="0" dirty="0" err="1">
                <a:ln>
                  <a:noFill/>
                </a:ln>
                <a:solidFill>
                  <a:schemeClr val="tx1"/>
                </a:solidFill>
              </a:rPr>
              <a:t>Agnostic</a:t>
            </a:r>
            <a:r>
              <a:rPr kumimoji="0" lang="ru-RU" altLang="ru-RU" sz="12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 NMS. </a:t>
            </a:r>
          </a:p>
          <a:p>
            <a:pPr>
              <a:defRPr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24646956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096000" y="4431152"/>
            <a:ext cx="5648325" cy="600112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>
              <a:defRPr/>
            </a:pPr>
            <a:r>
              <a:rPr kumimoji="0" lang="ru-RU" altLang="ru-RU" sz="12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Сопоставление План-Факт: Парсер находит в утвержденном графике ДГП этап, активный на дату снимка, и сравнивает нормативную потребность в технике с фактически обнаруженными машинами.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93814021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096000" y="5488349"/>
            <a:ext cx="5648325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kumimoji="0" lang="ru-RU" altLang="ru-RU" sz="1200" strike="noStrike" cap="none" normalizeH="0" baseline="0" dirty="0">
                <a:ln>
                  <a:noFill/>
                </a:ln>
                <a:solidFill>
                  <a:schemeClr val="tx1"/>
                </a:solidFill>
              </a:rPr>
              <a:t>Формирование управленческого диагноза: Оценка риска срыва срока этапа и мгновенная выгрузка официального PDF-Акта строительного контроля с доказательной базой и штампом. </a:t>
            </a:r>
          </a:p>
          <a:p>
            <a:pPr>
              <a:defRPr/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93327702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6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282735636" name="Заголовок 13"/>
          <p:cNvSpPr>
            <a:spLocks noGrp="1"/>
          </p:cNvSpPr>
          <p:nvPr>
            <p:ph type="title"/>
          </p:nvPr>
        </p:nvSpPr>
        <p:spPr bwMode="auto">
          <a:xfrm>
            <a:off x="1032610" y="446952"/>
            <a:ext cx="1738757" cy="376138"/>
          </a:xfrm>
        </p:spPr>
        <p:txBody>
          <a:bodyPr/>
          <a:lstStyle/>
          <a:p>
            <a:pPr>
              <a:defRPr/>
            </a:pPr>
            <a:r>
              <a:rPr lang="ru-RU" sz="1800" dirty="0"/>
              <a:t>РЕШЕНИЕ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C891B-6190-66F5-4CAA-9D0F65A6F7D2}"/>
              </a:ext>
            </a:extLst>
          </p:cNvPr>
          <p:cNvSpPr txBox="1"/>
          <p:nvPr/>
        </p:nvSpPr>
        <p:spPr>
          <a:xfrm>
            <a:off x="7291628" y="1547437"/>
            <a:ext cx="322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ru-RU" sz="1800" b="1" dirty="0">
                <a:solidFill>
                  <a:schemeClr val="tx1"/>
                </a:solidFill>
              </a:rPr>
              <a:t>Пользовательский сценарий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endParaRPr kumimoji="0" lang="ru-RU" altLang="ru-RU" sz="1800" b="1" strike="noStrike" cap="none" normalizeH="0" baseline="0" dirty="0">
              <a:ln>
                <a:noFill/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901622" name="Скругленный прямоугольник 3"/>
          <p:cNvSpPr/>
          <p:nvPr/>
        </p:nvSpPr>
        <p:spPr bwMode="auto">
          <a:xfrm>
            <a:off x="325170" y="1135182"/>
            <a:ext cx="11541659" cy="5221175"/>
          </a:xfrm>
          <a:prstGeom prst="roundRect">
            <a:avLst>
              <a:gd name="adj" fmla="val 6423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Целевая аудитория в сегменте B2G: </a:t>
            </a: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Департамент градостроительной политики города Москвы, </a:t>
            </a:r>
            <a:r>
              <a:rPr kumimoji="0" lang="ru-RU" altLang="ru-RU" sz="140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Мосгосстройнадзор</a:t>
            </a: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технические заказчики и надзорные ведомства, контролирующие десятки строек одновременно.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Целевая аудитория в сегменте B2B: </a:t>
            </a: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Генеральные подрядчики, девелоперы жилой и коммерческой недвижимости, службы контроля субподрядных организаций.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Оценка объемов рынка </a:t>
            </a:r>
            <a:r>
              <a:rPr kumimoji="0" lang="ru-RU" altLang="ru-RU" sz="1400" b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ConTech</a:t>
            </a: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Общий рынок России (TAM): свыше 18 000 зарегистрированных объектов капитального строительства.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Доступный рынок Москвы и области (SAM): более 1 500 активных площадок с установленной инфраструктурой видеонаблюдения.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Первоочередной сегмент (SOM): более 120 площадок программы Реновации и крупных объектов инфраструктурного госзаказа Москвы.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Стратегия выхода на рынок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(Go-</a:t>
            </a:r>
            <a:r>
              <a:rPr kumimoji="0" lang="ru-RU" altLang="ru-RU" sz="1400" b="1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ru-RU" altLang="ru-RU" sz="14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-Market):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Шаг 1. Пилотный запуск на 10 ключевых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строительных площадках ДГП с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готовыми эталонными графиками СМР.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Шаг 2. Подключение к существующим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потокам Единого центра хранения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данных (ЕЦХД) Москвы без затрат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40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нановое</a:t>
            </a: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оборудование.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Шаг 3. Запуск коммерческой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SaaS</a:t>
            </a: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-подписки для генеральных </a:t>
            </a:r>
          </a:p>
          <a:p>
            <a:pPr marL="289379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4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подрядчиков.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7196756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08300599" name="Заголовок 1"/>
          <p:cNvSpPr>
            <a:spLocks noGrp="1"/>
          </p:cNvSpPr>
          <p:nvPr>
            <p:ph type="title"/>
          </p:nvPr>
        </p:nvSpPr>
        <p:spPr bwMode="auto">
          <a:xfrm>
            <a:off x="482304" y="583121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200" dirty="0" err="1">
                <a:solidFill>
                  <a:schemeClr val="accent6">
                    <a:lumMod val="10000"/>
                    <a:lumOff val="90000"/>
                  </a:schemeClr>
                </a:solidFill>
              </a:rPr>
              <a:t>Мартинговая</a:t>
            </a:r>
            <a:r>
              <a:rPr lang="ru-RU" sz="3200" dirty="0">
                <a:solidFill>
                  <a:schemeClr val="accent6">
                    <a:lumMod val="10000"/>
                    <a:lumOff val="90000"/>
                  </a:schemeClr>
                </a:solidFill>
              </a:rPr>
              <a:t> часть решения</a:t>
            </a:r>
            <a:endParaRPr lang="ru-RU" sz="3200" b="0" dirty="0">
              <a:solidFill>
                <a:schemeClr val="accent6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1C8832-BC6A-866D-65CC-9E293AE85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583" y="3522300"/>
            <a:ext cx="7026313" cy="2664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339569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7903166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8</a:t>
            </a:fld>
            <a:endParaRPr lang="ru-RU"/>
          </a:p>
        </p:txBody>
      </p:sp>
      <p:sp>
        <p:nvSpPr>
          <p:cNvPr id="84494046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002060"/>
                </a:solidFill>
              </a:rPr>
              <a:t>Бизнесовая составляющая решения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D4E411-CF2C-1A7F-4778-E5EF33CC88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349" y="1083397"/>
            <a:ext cx="5935663" cy="5122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400" b="1" u="none" strike="noStrike" dirty="0">
                <a:solidFill>
                  <a:schemeClr val="accent6"/>
                </a:solidFill>
                <a:effectLst/>
              </a:rPr>
              <a:t>Экономический эффект для города: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Сокращение трудозатрат инспекции на 60–75%: Автоматизация рутинного подсчета техники и фиксации смен высвобождает до 30 рабочих часов инженера в неделю.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Раннее предупреждение срывов: Выявление дефицита землеройной или бетонной техники в первые 24 часа предотвращает каскадные задержки ввода объектов, экономя десятки миллионов рублей на неустойках.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100% доказательная база: Исключение субъективного человеческого фактора и коррупционных рисков при выставлении официальных предписаний.</a:t>
            </a:r>
          </a:p>
          <a:p>
            <a:r>
              <a:rPr lang="ru-RU" sz="1400" b="1" u="none" strike="noStrike" dirty="0">
                <a:solidFill>
                  <a:schemeClr val="accent6"/>
                </a:solidFill>
                <a:effectLst/>
              </a:rPr>
              <a:t>Модель монетизации: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B2G Контракт (Enterprise): Фиксированная годовая лицензия за внедрение, кастомизацию онтологии и техническое сопровождение платформы в ведомственном контуре.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B2B Модель (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SaaS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): Ежемесячная подписка за мониторинг строительного пятна: градация по числу подключенных камер и объектов (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Tier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-тарифы).</a:t>
            </a:r>
          </a:p>
          <a:p>
            <a:r>
              <a:rPr lang="ru-RU" sz="1400" b="1" u="none" strike="noStrike" dirty="0">
                <a:solidFill>
                  <a:schemeClr val="accent6"/>
                </a:solidFill>
                <a:effectLst/>
              </a:rPr>
              <a:t>Расчет окупаемости (ROI):</a:t>
            </a:r>
          </a:p>
          <a:p>
            <a:pPr lvl="1"/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Внедрение на объекте окупается при предотвращении всего одной недели системного простоя генподрядчика или субподрядных бригад.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D396C5-23BE-E39C-4BB9-52C34B573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5846" y="821017"/>
            <a:ext cx="3709888" cy="5385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8">
            <a:extLst>
              <a:ext uri="{FF2B5EF4-FFF2-40B4-BE49-F238E27FC236}">
                <a16:creationId xmlns:a16="http://schemas.microsoft.com/office/drawing/2014/main" id="{00501DC5-0451-45C3-C420-61333372FDAC}"/>
              </a:ext>
            </a:extLst>
          </p:cNvPr>
          <p:cNvSpPr/>
          <p:nvPr/>
        </p:nvSpPr>
        <p:spPr bwMode="auto">
          <a:xfrm>
            <a:off x="185553" y="3848100"/>
            <a:ext cx="6049140" cy="2615538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Скругленный прямоугольник 8">
            <a:extLst>
              <a:ext uri="{FF2B5EF4-FFF2-40B4-BE49-F238E27FC236}">
                <a16:creationId xmlns:a16="http://schemas.microsoft.com/office/drawing/2014/main" id="{C756072B-B216-16B4-9A1F-C73EAAFA9B2F}"/>
              </a:ext>
            </a:extLst>
          </p:cNvPr>
          <p:cNvSpPr/>
          <p:nvPr/>
        </p:nvSpPr>
        <p:spPr bwMode="auto">
          <a:xfrm>
            <a:off x="6338428" y="1272619"/>
            <a:ext cx="5354638" cy="4619134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730935009" name="Скругленный прямоугольник 8"/>
          <p:cNvSpPr/>
          <p:nvPr/>
        </p:nvSpPr>
        <p:spPr bwMode="auto">
          <a:xfrm>
            <a:off x="218003" y="517388"/>
            <a:ext cx="6004138" cy="283541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614090912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414000594" name="Заголовок 2"/>
          <p:cNvSpPr>
            <a:spLocks noGrp="1"/>
          </p:cNvSpPr>
          <p:nvPr>
            <p:ph type="title"/>
          </p:nvPr>
        </p:nvSpPr>
        <p:spPr bwMode="auto">
          <a:xfrm>
            <a:off x="636917" y="677739"/>
            <a:ext cx="5078673" cy="415925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6"/>
                </a:solidFill>
              </a:rPr>
              <a:t>Техническая проработка решения</a:t>
            </a:r>
            <a:endParaRPr lang="ru-RU" sz="2000" dirty="0">
              <a:solidFill>
                <a:schemeClr val="accent6"/>
              </a:solidFill>
            </a:endParaRPr>
          </a:p>
        </p:txBody>
      </p:sp>
      <p:sp>
        <p:nvSpPr>
          <p:cNvPr id="949726292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634306" y="1086928"/>
            <a:ext cx="5078673" cy="2119927"/>
          </a:xfrm>
        </p:spPr>
        <p:txBody>
          <a:bodyPr>
            <a:noAutofit/>
          </a:bodyPr>
          <a:lstStyle/>
          <a:p>
            <a:r>
              <a:rPr lang="ru-RU" b="0" u="none" strike="noStrike" dirty="0">
                <a:solidFill>
                  <a:schemeClr val="accent6"/>
                </a:solidFill>
                <a:effectLst/>
              </a:rPr>
              <a:t>ML-конвейер компьютерного зрения:</a:t>
            </a:r>
          </a:p>
          <a:p>
            <a:pPr lvl="1"/>
            <a:r>
              <a:rPr lang="ru-RU" b="0" u="none" strike="noStrike" dirty="0">
                <a:solidFill>
                  <a:schemeClr val="accent6"/>
                </a:solidFill>
                <a:effectLst/>
              </a:rPr>
              <a:t>Модели семейства YOLO (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Nano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/Small), оптимизированные под минимальный 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футпринт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: потребление VRAM менее 1.8 ГБ (поддержка видеокарт уровня RTX 3050 и облачных инстансов).</a:t>
            </a:r>
          </a:p>
          <a:p>
            <a:pPr lvl="1"/>
            <a:r>
              <a:rPr lang="ru-RU" b="0" u="none" strike="noStrike" dirty="0">
                <a:solidFill>
                  <a:schemeClr val="accent6"/>
                </a:solidFill>
                <a:effectLst/>
              </a:rPr>
              <a:t>Режим 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инференса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: FP16 ( 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half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=True ), скорость отклика 25–35 мс на кадр.</a:t>
            </a:r>
          </a:p>
          <a:p>
            <a:pPr lvl="1"/>
            <a:r>
              <a:rPr lang="ru-RU" b="0" u="none" strike="noStrike" dirty="0">
                <a:solidFill>
                  <a:schemeClr val="accent6"/>
                </a:solidFill>
                <a:effectLst/>
              </a:rPr>
              <a:t>Алгоритмы фильтрации: Class-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Agnostic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 NMS и подавление вложенных рамок ( </a:t>
            </a:r>
            <a:r>
              <a:rPr lang="ru-RU" b="0" u="none" strike="noStrike" dirty="0" err="1">
                <a:solidFill>
                  <a:schemeClr val="accent6"/>
                </a:solidFill>
                <a:effectLst/>
              </a:rPr>
              <a:t>suppress_contained_boxes</a:t>
            </a:r>
            <a:r>
              <a:rPr lang="ru-RU" b="0" u="none" strike="noStrike" dirty="0">
                <a:solidFill>
                  <a:schemeClr val="accent6"/>
                </a:solidFill>
                <a:effectLst/>
              </a:rPr>
              <a:t> ) исключают ложные дубликаты стрел кранов и кузовов.</a:t>
            </a:r>
          </a:p>
          <a:p>
            <a:pPr>
              <a:defRPr/>
            </a:pPr>
            <a:endParaRPr lang="ru-RU" dirty="0">
              <a:solidFill>
                <a:schemeClr val="accent6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78C98C-3AA2-FCAF-70BC-84C1E1748E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01"/>
          <a:stretch/>
        </p:blipFill>
        <p:spPr>
          <a:xfrm>
            <a:off x="273975" y="3981450"/>
            <a:ext cx="5856982" cy="24223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74DC33-3191-F2F2-5C8D-31BA1CDB96EF}"/>
              </a:ext>
            </a:extLst>
          </p:cNvPr>
          <p:cNvSpPr txBox="1"/>
          <p:nvPr/>
        </p:nvSpPr>
        <p:spPr>
          <a:xfrm>
            <a:off x="6454715" y="1647394"/>
            <a:ext cx="512206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u="none" strike="noStrike" dirty="0">
                <a:solidFill>
                  <a:schemeClr val="accent6"/>
                </a:solidFill>
                <a:effectLst/>
              </a:rPr>
              <a:t>Сервисный бэкенд и асинхронность:</a:t>
            </a:r>
            <a:endParaRPr lang="ru-RU" sz="1400" b="1" dirty="0">
              <a:solidFill>
                <a:schemeClr val="accent6"/>
              </a:solidFill>
            </a:endParaRP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Стек: Python 3.13,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FastAPI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,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SQLAlchemy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ORM,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SQLite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/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PostgreSQL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.</a:t>
            </a: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Неблокирующий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инференс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: запуск тяжелых операций нейросети вынесен в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run_in_threadpool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, что исключает зависание API при одновременных запросах.</a:t>
            </a: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Контракты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Pydantic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v2 и автоматическая документация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OpenAPI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(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Swagger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u="none" strike="noStrike" dirty="0">
                <a:solidFill>
                  <a:schemeClr val="accent6"/>
                </a:solidFill>
                <a:effectLst/>
              </a:rPr>
              <a:t>Инфраструктура и безопасность:</a:t>
            </a: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Раздельное хранение неизменяемых оригиналов (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raw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) и размеченных превью (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annotated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).</a:t>
            </a: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Контейнеризация через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Docker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Compose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; возможность полной изоляции в закрытом</a:t>
            </a:r>
          </a:p>
          <a:p>
            <a:pPr marL="742860" lvl="1" indent="-285750">
              <a:buFont typeface="Arial" panose="020B0604020202020204" pitchFamily="34" charset="0"/>
              <a:buChar char="•"/>
            </a:pP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On-</a:t>
            </a:r>
            <a:r>
              <a:rPr lang="ru-RU" sz="1400" b="0" u="none" strike="noStrike" dirty="0" err="1">
                <a:solidFill>
                  <a:schemeClr val="accent6"/>
                </a:solidFill>
                <a:effectLst/>
              </a:rPr>
              <a:t>Premise</a:t>
            </a:r>
            <a:r>
              <a:rPr lang="ru-RU" sz="1400" b="0" u="none" strike="noStrike" dirty="0">
                <a:solidFill>
                  <a:schemeClr val="accent6"/>
                </a:solidFill>
                <a:effectLst/>
              </a:rPr>
              <a:t> контуре Правительства Москвы без обращения к внешним облакам.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55DC37CA-14FF-B4F2-228D-9E9452068D1D}"/>
              </a:ext>
            </a:extLst>
          </p:cNvPr>
          <p:cNvCxnSpPr/>
          <p:nvPr/>
        </p:nvCxnSpPr>
        <p:spPr>
          <a:xfrm>
            <a:off x="273975" y="5238750"/>
            <a:ext cx="0" cy="254000"/>
          </a:xfrm>
          <a:prstGeom prst="line">
            <a:avLst/>
          </a:prstGeom>
          <a:ln>
            <a:solidFill>
              <a:srgbClr val="C3DA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901622" name="Скругленный прямоугольник 3"/>
          <p:cNvSpPr/>
          <p:nvPr/>
        </p:nvSpPr>
        <p:spPr bwMode="auto">
          <a:xfrm>
            <a:off x="325170" y="1135182"/>
            <a:ext cx="11541659" cy="5221175"/>
          </a:xfrm>
          <a:prstGeom prst="roundRect">
            <a:avLst>
              <a:gd name="adj" fmla="val 6423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r>
              <a:rPr lang="ru-RU" sz="1400" b="1" u="none" strike="noStrike" dirty="0">
                <a:solidFill>
                  <a:schemeClr val="tx1"/>
                </a:solidFill>
                <a:effectLst/>
              </a:rPr>
              <a:t>Сравнительный анализ:</a:t>
            </a:r>
          </a:p>
          <a:p>
            <a:endParaRPr lang="ru-RU" sz="1400" b="1" dirty="0">
              <a:solidFill>
                <a:schemeClr val="tx1"/>
              </a:solidFill>
            </a:endParaRPr>
          </a:p>
          <a:p>
            <a:endParaRPr lang="ru-RU" sz="1400" b="1" u="none" strike="noStrike" dirty="0">
              <a:solidFill>
                <a:schemeClr val="tx1"/>
              </a:solidFill>
              <a:effectLst/>
            </a:endParaRPr>
          </a:p>
          <a:p>
            <a:br>
              <a:rPr lang="ru-RU" sz="1400" b="1" u="none" strike="noStrike" dirty="0">
                <a:solidFill>
                  <a:schemeClr val="tx1"/>
                </a:solidFill>
                <a:effectLst/>
              </a:rPr>
            </a:br>
            <a:endParaRPr kumimoji="0" lang="ru-RU" altLang="ru-RU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7196756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08300599" name="Заголовок 1"/>
          <p:cNvSpPr>
            <a:spLocks noGrp="1"/>
          </p:cNvSpPr>
          <p:nvPr>
            <p:ph type="title"/>
          </p:nvPr>
        </p:nvSpPr>
        <p:spPr bwMode="auto">
          <a:xfrm>
            <a:off x="454872" y="394685"/>
            <a:ext cx="5994696" cy="552061"/>
          </a:xfrm>
        </p:spPr>
        <p:txBody>
          <a:bodyPr/>
          <a:lstStyle/>
          <a:p>
            <a:pPr>
              <a:defRPr/>
            </a:pPr>
            <a:r>
              <a:rPr lang="ru-RU" sz="3200" dirty="0">
                <a:solidFill>
                  <a:schemeClr val="accent6">
                    <a:lumMod val="10000"/>
                    <a:lumOff val="90000"/>
                  </a:schemeClr>
                </a:solidFill>
              </a:rPr>
              <a:t>Уникальность решения</a:t>
            </a:r>
            <a:endParaRPr lang="ru-RU" sz="3200" b="0" dirty="0">
              <a:solidFill>
                <a:schemeClr val="accent6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B0ABF3-9CFB-D126-DB62-606CC7B00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238" y="1646264"/>
            <a:ext cx="7515524" cy="2348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D028C3-5FB5-265E-088C-DB7C588417E8}"/>
              </a:ext>
            </a:extLst>
          </p:cNvPr>
          <p:cNvSpPr txBox="1"/>
          <p:nvPr/>
        </p:nvSpPr>
        <p:spPr>
          <a:xfrm>
            <a:off x="454871" y="4267420"/>
            <a:ext cx="1095863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u="none" strike="noStrike" dirty="0">
                <a:solidFill>
                  <a:schemeClr val="tx1"/>
                </a:solidFill>
                <a:effectLst/>
              </a:rPr>
              <a:t>Ключевые инновационные фичи:</a:t>
            </a:r>
          </a:p>
          <a:p>
            <a:pPr>
              <a:buFont typeface="+mj-lt"/>
              <a:buAutoNum type="arabicPeriod"/>
            </a:pPr>
            <a:r>
              <a:rPr lang="ru-RU" sz="1400" b="0" u="none" strike="noStrike" dirty="0">
                <a:solidFill>
                  <a:schemeClr val="tx1"/>
                </a:solidFill>
                <a:effectLst/>
              </a:rPr>
              <a:t>Метрика </a:t>
            </a:r>
            <a:r>
              <a:rPr lang="ru-RU" sz="1400" b="0" u="none" strike="noStrike" dirty="0" err="1">
                <a:solidFill>
                  <a:schemeClr val="tx1"/>
                </a:solidFill>
                <a:effectLst/>
              </a:rPr>
              <a:t>ObservationQuality</a:t>
            </a:r>
            <a:r>
              <a:rPr lang="ru-RU" sz="1400" b="0" u="none" strike="noStrike" dirty="0">
                <a:solidFill>
                  <a:schemeClr val="tx1"/>
                </a:solidFill>
                <a:effectLst/>
              </a:rPr>
              <a:t> (HIGH/MEDIUM/LOW): Защита от ложных штрафов. Если камера находится на 20-м этаже и техника занимает менее 2% кадра, система честно сигнализирует о плохом обзоре и дает рекомендацию по юстировке ракурса.</a:t>
            </a:r>
          </a:p>
          <a:p>
            <a:pPr>
              <a:buFont typeface="+mj-lt"/>
              <a:buAutoNum type="arabicPeriod"/>
            </a:pPr>
            <a:endParaRPr lang="ru-RU" sz="1400" b="0" u="none" strike="noStrike" dirty="0">
              <a:solidFill>
                <a:schemeClr val="tx1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ru-RU" sz="1400" b="0" u="none" strike="noStrike" dirty="0">
                <a:solidFill>
                  <a:schemeClr val="tx1"/>
                </a:solidFill>
                <a:effectLst/>
              </a:rPr>
              <a:t>Динамический парсер Excel ДГП: Сквозной разбор строк вида «Экскаватор (2), Самосвал (4)» с нормализацией синонимов.</a:t>
            </a:r>
          </a:p>
        </p:txBody>
      </p:sp>
    </p:spTree>
    <p:extLst>
      <p:ext uri="{BB962C8B-B14F-4D97-AF65-F5344CB8AC3E}">
        <p14:creationId xmlns:p14="http://schemas.microsoft.com/office/powerpoint/2010/main" val="27499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663404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Планы по развитию решения 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408309161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45847" y="1667815"/>
            <a:ext cx="11230462" cy="113414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400" b="1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Контроль промышленной безопасности и СИЗ (Q1–Q2 2027)</a:t>
            </a:r>
          </a:p>
          <a:p>
            <a:pPr>
              <a:defRPr/>
            </a:pP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Расширение детекции на средства индивидуальной защиты: каски, сигнальные жилеты, страховочные привязи на высотных участках.</a:t>
            </a: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Детекция нахождения рабочих в опасных зонах перемещения стрел кранов и экскаваторов.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228721835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45847" y="4463171"/>
            <a:ext cx="11242819" cy="108443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1400" b="1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Автономизация и интеграция с ЕЦХД (Q3–Q4 2026)</a:t>
            </a: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Подключение фонового </a:t>
            </a:r>
            <a:r>
              <a:rPr lang="ru-RU" sz="1400" b="0" u="none" strike="noStrike" dirty="0" err="1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snapshot-воркера</a:t>
            </a: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 к потокам камер ЕЦХД Москвы по расписанию (интервальный захват каждые 15–30 минут без нагрузки на каналы).</a:t>
            </a: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Внедрение визуального интерактивного редактора технологических зон стройплощадки (привязка камер: «Котлован», «Монолит», «Въездная группа/Мойка колес»).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96543199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45848" y="3076153"/>
            <a:ext cx="11242819" cy="1084437"/>
          </a:xfrm>
        </p:spPr>
        <p:txBody>
          <a:bodyPr>
            <a:noAutofit/>
          </a:bodyPr>
          <a:lstStyle/>
          <a:p>
            <a:r>
              <a:rPr lang="ru-RU" sz="1400" b="1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Предиктивная аналитика и федеральный охват (Q3–Q4 2027)</a:t>
            </a: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Внедрение ML-модели прогнозирования вероятности срыва сроков на 14 дней вперед на основе динамики фактического присутствия техники.</a:t>
            </a:r>
            <a:b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</a:br>
            <a:r>
              <a:rPr lang="ru-RU" sz="1400" b="0" u="none" strike="noStrike" dirty="0">
                <a:solidFill>
                  <a:schemeClr val="tx1"/>
                </a:solidFill>
                <a:effectLst/>
                <a:ea typeface="DejaVu Math TeX Gyre" panose="02000503000000000000" pitchFamily="2" charset="0"/>
                <a:cs typeface="DejaVu Math TeX Gyre" panose="02000503000000000000" pitchFamily="2" charset="0"/>
              </a:rPr>
              <a:t>Масштабирование решения на транспортное и дорожное строительство (автотрассы, метрополитен) и тиражирование в регионы России.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  <a:ea typeface="DejaVu Math TeX Gyre" panose="02000503000000000000" pitchFamily="2" charset="0"/>
              <a:cs typeface="DejaVu Math TeX Gyre" panose="02000503000000000000" pitchFamily="2" charset="0"/>
            </a:endParaRP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103856585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1232020317" name="Прямая соединительная линия 1"/>
          <p:cNvCxnSpPr/>
          <p:nvPr/>
        </p:nvCxnSpPr>
        <p:spPr bwMode="auto">
          <a:xfrm>
            <a:off x="397325" y="164085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8255117" name="Прямая соединительная линия 3"/>
          <p:cNvCxnSpPr/>
          <p:nvPr/>
        </p:nvCxnSpPr>
        <p:spPr bwMode="auto">
          <a:xfrm>
            <a:off x="409682" y="29283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5454840" name="Прямая соединительная линия 12"/>
          <p:cNvCxnSpPr/>
          <p:nvPr/>
        </p:nvCxnSpPr>
        <p:spPr bwMode="auto">
          <a:xfrm>
            <a:off x="409682" y="4311881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7901812" name="Прямая соединительная линия 13"/>
          <p:cNvCxnSpPr/>
          <p:nvPr/>
        </p:nvCxnSpPr>
        <p:spPr bwMode="auto">
          <a:xfrm>
            <a:off x="452762" y="5745602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2723</TotalTime>
  <Words>1675</Words>
  <Application>Microsoft Office PowerPoint</Application>
  <PresentationFormat>Широкоэкранный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DejaVu Math TeX Gyre</vt:lpstr>
      <vt:lpstr>Montserrat</vt:lpstr>
      <vt:lpstr>Wingdings</vt:lpstr>
      <vt:lpstr>Для Академия инноваторов 16_9</vt:lpstr>
      <vt:lpstr>Прайм ИИ</vt:lpstr>
      <vt:lpstr>Команда “Прайм ИИ”</vt:lpstr>
      <vt:lpstr>Прайм ИИ</vt:lpstr>
      <vt:lpstr>Прайм ИИ</vt:lpstr>
      <vt:lpstr>КОРОТКО О РЕШЕНИИ</vt:lpstr>
      <vt:lpstr>РЕШЕНИЕ</vt:lpstr>
      <vt:lpstr>Мартинговая часть решения</vt:lpstr>
      <vt:lpstr>Бизнесовая составляющая решения</vt:lpstr>
      <vt:lpstr>Техническая проработка решения</vt:lpstr>
      <vt:lpstr>Уникальность решения</vt:lpstr>
      <vt:lpstr>Планы по развитию решения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Egor Ka</cp:lastModifiedBy>
  <cp:revision>101</cp:revision>
  <dcterms:created xsi:type="dcterms:W3CDTF">2023-05-15T07:36:23Z</dcterms:created>
  <dcterms:modified xsi:type="dcterms:W3CDTF">2026-09-28T11:39:01Z</dcterms:modified>
</cp:coreProperties>
</file>